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D7BF-8093-88E0-5A70-508C12279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495C7-5BE2-4D81-1BDF-13CB7CF23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F21F0-7A78-58B1-9BC2-C307404A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1266E-7128-2C62-0764-EC8676E8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EF42-CD67-7A6F-DE9B-805F8D4D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823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6F3C2-AD4F-4449-449A-D2CDE013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FD32-3AA7-EC00-CB5B-8D273F03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5C6A-8D9F-07BC-F7B2-B4B187BF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DFF97-9018-AFE5-8816-2145F431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73803-4BE7-320A-1EB8-C6E7C158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4120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7753-2DF1-A748-AD9A-525CC441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CFE9D-111F-FCAF-7557-F7A7E619B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CB654-C5AA-4DFE-FAB0-CF6ABE74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5E44A-93F8-B986-0225-C4C7705B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574B8-E061-2450-8219-8598BCCB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31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8B34-70D6-46D1-E294-37EE768F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C422-4B87-151A-6D65-2C8BA0A82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57698-E8F1-7521-2003-0C14E9577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597D3-AA8F-F877-B4DA-988681E3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32976-082E-0B8C-91ED-F9B12517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62D0-61BE-664A-32E9-CE012333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8181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EB61-B158-62A5-0046-3115F6252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6DC3F-8AB5-F0DC-8B64-7E44D3E11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68619-B927-9085-D822-6FEEC150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98633-FE39-4ACD-F24C-981F758EE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69775-7388-E8B3-CD15-A13A9C8E8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070E8-23B8-4F4E-76E2-F12836C42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33969-CD45-6C29-84B2-815B47A41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5A722-9867-225B-72FE-EBC340183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529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5C81-7909-F8FE-2CF7-D8224A6D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DCF91-C46F-F7BF-63A3-2139088C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9A00-92DC-3F58-0D7D-B8D87FCE4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F870B-346A-5B0B-2F30-8AA638DB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517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83A97-15AD-9C7A-C690-49076CC6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4E234-333B-2D64-1C2C-C101CF44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5F54A-A313-43F1-BC9E-A419A9B3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95821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361F-553C-1477-688E-1AF3BB50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769A7-B918-FAAA-4B1D-D226BB156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4DBA8-D0DB-26C2-9A70-1326274A4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14A54-9125-5C0D-9C36-6C7A4E3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C4607-1221-B1E1-545B-2DC32C0C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A24C6-3B65-A658-66FE-EEE4D6DC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077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2B22-C56F-AF28-02CC-B92946D9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71EC6-62A9-F906-687A-8B259EFE0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86DB1-2356-DE93-7AF3-25196430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676EB-FF1D-0737-86F1-DADDDA51E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42BA9-C4F1-F624-9827-35E971F9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7AC9D-1011-9165-4729-6A741931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0278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226E-126B-22A0-1829-6083A10D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527F3-F08F-F5B1-B558-D9F54612E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8DDE6-6774-0A51-E195-855AFC7F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124A1-5024-C1F8-45DB-9BD150B9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15BF0-8FBA-E7E9-54B0-3BE83646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9050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BADCA-4C78-E21C-F3FB-6AE00733B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B29CE-48FA-A16E-1129-E23F1A2D6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25387-A6FB-7BB2-E9E4-0590FF77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003DF-AF47-228F-6082-8165E38D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E7B9D-9A00-F7A8-FF1E-2452277B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363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E2E1E-8D1D-CC3C-5152-EC29D176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9324F-37C1-E4F0-EB9B-00E17464A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94583-3C4C-CB7A-76BA-A418CC25A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3A87A-A543-46A8-AFED-646EDF34CBE3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1A82E-B652-85B1-DBF5-24E91BB4E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6BB0B-E7BA-0DD2-74BC-815A180EF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CB443-11BA-43B6-A6A0-B5D722CB8FB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196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standing in a room&#10;&#10;AI-generated content may be incorrect.">
            <a:extLst>
              <a:ext uri="{FF2B5EF4-FFF2-40B4-BE49-F238E27FC236}">
                <a16:creationId xmlns:a16="http://schemas.microsoft.com/office/drawing/2014/main" id="{9A58FD65-B44F-7032-DA9F-3D6B5865A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8" t="9091" r="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618D9-87BC-D56A-EF78-6B71CDA23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6432485" cy="2410519"/>
          </a:xfrm>
        </p:spPr>
        <p:txBody>
          <a:bodyPr anchor="b">
            <a:normAutofit/>
          </a:bodyPr>
          <a:lstStyle/>
          <a:p>
            <a:pPr algn="l"/>
            <a:r>
              <a:rPr lang="en-US" sz="5300" b="1" dirty="0">
                <a:solidFill>
                  <a:schemeClr val="bg1"/>
                </a:solidFill>
              </a:rPr>
              <a:t>Sampling Your Way to Accurate Estimates</a:t>
            </a:r>
            <a:br>
              <a:rPr lang="en-US" sz="4100" b="1" dirty="0">
                <a:solidFill>
                  <a:schemeClr val="bg1"/>
                </a:solidFill>
              </a:rPr>
            </a:br>
            <a:endParaRPr lang="en-ZA" sz="41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004D7-90AF-8B43-2005-AB6FFFD7B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ZA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89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rawing of a graph of a city&#10;&#10;AI-generated content may be incorrect.">
            <a:extLst>
              <a:ext uri="{FF2B5EF4-FFF2-40B4-BE49-F238E27FC236}">
                <a16:creationId xmlns:a16="http://schemas.microsoft.com/office/drawing/2014/main" id="{DE24C2F3-0EAE-0AC0-343A-CF86214F50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34A9-DC4B-CC8B-E3BB-61965985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922"/>
            <a:ext cx="10515600" cy="1041816"/>
          </a:xfrm>
        </p:spPr>
        <p:txBody>
          <a:bodyPr>
            <a:normAutofit/>
          </a:bodyPr>
          <a:lstStyle/>
          <a:p>
            <a:r>
              <a:rPr lang="en-ZA" sz="4800" b="1" dirty="0">
                <a:solidFill>
                  <a:srgbClr val="FFFFFF"/>
                </a:solidFill>
                <a:latin typeface="Arial Nova" panose="020B0504020202020204" pitchFamily="34" charset="0"/>
              </a:rPr>
              <a:t>Aim of Study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8E331A-8F06-274D-91A6-C97EA941B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28" y="1424066"/>
            <a:ext cx="10634272" cy="427219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 Nova" panose="020B0504020202020204" pitchFamily="34" charset="0"/>
              </a:rPr>
              <a:t>The aim of this study is to estimate population parameters (mean, proportion, and total) related to the Adult dataset using four different sampling strategies: Simple Random Sampling (SRS), Simple Random Sampling With Replacement (SRS WR), Stratified Sampling, and Cluster Sampling.</a:t>
            </a:r>
          </a:p>
          <a:p>
            <a:r>
              <a:rPr lang="en-US" sz="3200" dirty="0">
                <a:solidFill>
                  <a:srgbClr val="FFFFFF"/>
                </a:solidFill>
                <a:latin typeface="Arial Nova" panose="020B0504020202020204" pitchFamily="34" charset="0"/>
              </a:rPr>
              <a:t>We want to determine which method provides the most reliable estimates.</a:t>
            </a:r>
          </a:p>
        </p:txBody>
      </p:sp>
    </p:spTree>
    <p:extLst>
      <p:ext uri="{BB962C8B-B14F-4D97-AF65-F5344CB8AC3E}">
        <p14:creationId xmlns:p14="http://schemas.microsoft.com/office/powerpoint/2010/main" val="1825784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view of a street from a window&#10;&#10;AI-generated content may be incorrect.">
            <a:extLst>
              <a:ext uri="{FF2B5EF4-FFF2-40B4-BE49-F238E27FC236}">
                <a16:creationId xmlns:a16="http://schemas.microsoft.com/office/drawing/2014/main" id="{A5F0E7AE-3264-143B-BA6F-7930DC7D25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-1" b="-1"/>
          <a:stretch>
            <a:fillRect/>
          </a:stretch>
        </p:blipFill>
        <p:spPr>
          <a:xfrm>
            <a:off x="-1497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C606CB-10C2-F9FA-D48C-E8C2B7CC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883"/>
            <a:ext cx="10515600" cy="83944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Arial Nova" panose="020B0504020202020204" pitchFamily="34" charset="0"/>
              </a:rPr>
              <a:t>Data and Variables of Interest</a:t>
            </a:r>
            <a:endParaRPr lang="en-ZA" sz="4800" b="1" dirty="0">
              <a:solidFill>
                <a:srgbClr val="FFFFFF"/>
              </a:solidFill>
              <a:latin typeface="Arial Nova" panose="020B05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1351FB3-7A81-866E-6E82-A3D9C625D9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99204"/>
            <a:ext cx="10515600" cy="49777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The Adult Data set consists of 14 variables, including numerical variables such as age, education-num, capital-gain, and hours-per-week. For this study, we will focus on the following variables: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Age (numerical)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Education-num (numerical)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Predicted income category (&gt;50K or &lt;=50K) (categorical)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200" dirty="0">
              <a:solidFill>
                <a:srgbClr val="FFFFFF"/>
              </a:solidFill>
              <a:latin typeface="Arial Nova" panose="020B05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These represent categorical, continuous, and aggregate measures, respectively, aligning with the three parameters we are required to estimate: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Proportion: the proportion of individuals earning more than 50K (categorical).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Mean: the average hours worked per week (continuous).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200" dirty="0">
                <a:solidFill>
                  <a:srgbClr val="FFFFFF"/>
                </a:solidFill>
                <a:latin typeface="Arial Nova" panose="020B0504020202020204" pitchFamily="34" charset="0"/>
              </a:rPr>
              <a:t>~ Total: the total estimated capital gain across the population (aggregate)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52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4162133-915E-2C41-120E-DDEE34A866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-1497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DDE2E-8C7E-56C6-DECB-7F4D260F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210" y="149903"/>
            <a:ext cx="9355111" cy="854438"/>
          </a:xfrm>
        </p:spPr>
        <p:txBody>
          <a:bodyPr>
            <a:normAutofit/>
          </a:bodyPr>
          <a:lstStyle/>
          <a:p>
            <a:r>
              <a:rPr lang="en-ZA" sz="4800" b="1" dirty="0">
                <a:solidFill>
                  <a:srgbClr val="FFFFFF"/>
                </a:solidFill>
                <a:latin typeface="Arial Nova" panose="020B0504020202020204" pitchFamily="34" charset="0"/>
              </a:rPr>
              <a:t>Sampling Types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B26B417-B7C1-6925-9781-B9D78B523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3210" y="1154234"/>
            <a:ext cx="11019020" cy="53739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1. Simple Random Sampling (SRS)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Description: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Each individual in the dataset has an equal chance of selection.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SAS code 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proc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surveyselect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data=adult method=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=500 seed=202503 out=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sample_srs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; run;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2. Simple Random Sampling With Replacement (SRS WR)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Description: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Sampling is done with replacement, meaning the same individual can be selected more than once.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SAS code 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proc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surveyselect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data=adult method=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urs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=500 seed=202503 out=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sample_srswr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; run;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3. Stratified Sampling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Description: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The population is divided into strata (e.g., by sex), and samples are drawn proportionally from each stratum.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SAS code 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proc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surveyselect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data=adult method=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=500 seed=202503 out=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sample_strata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; strata sex; run;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4. Cluster Sampling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Description: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The dataset is divided into clusters (e.g., by native-country), and a subset of clusters is randomly chosen, then all individuals in selected clusters are sampled.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SAS code example: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proc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surveyselect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data=adult method=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=5 seed=202503 out=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sample_cluster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; cluster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native_country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Nova" panose="020B0504020202020204" pitchFamily="34" charset="0"/>
              </a:rPr>
              <a:t>; run; </a:t>
            </a:r>
          </a:p>
        </p:txBody>
      </p:sp>
    </p:spTree>
    <p:extLst>
      <p:ext uri="{BB962C8B-B14F-4D97-AF65-F5344CB8AC3E}">
        <p14:creationId xmlns:p14="http://schemas.microsoft.com/office/powerpoint/2010/main" val="655256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erson sitting in a dark room with a graph&#10;&#10;AI-generated content may be incorrect.">
            <a:extLst>
              <a:ext uri="{FF2B5EF4-FFF2-40B4-BE49-F238E27FC236}">
                <a16:creationId xmlns:a16="http://schemas.microsoft.com/office/drawing/2014/main" id="{B8E2FB0D-603D-8B71-94FE-B41C89E95F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FAE6E2-666F-DD52-808C-27E41986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873"/>
            <a:ext cx="10515600" cy="949715"/>
          </a:xfrm>
        </p:spPr>
        <p:txBody>
          <a:bodyPr>
            <a:normAutofit/>
          </a:bodyPr>
          <a:lstStyle/>
          <a:p>
            <a:r>
              <a:rPr lang="en-ZA" sz="4800" b="1" dirty="0">
                <a:latin typeface="Arial Nova" panose="020B0504020202020204" pitchFamily="34" charset="0"/>
              </a:rPr>
              <a:t>Results</a:t>
            </a:r>
            <a:endParaRPr lang="en-ZA" sz="4800" b="1" dirty="0">
              <a:solidFill>
                <a:srgbClr val="FFFFFF"/>
              </a:solidFill>
              <a:latin typeface="Arial Nova" panose="020B0504020202020204" pitchFamily="34" charset="0"/>
            </a:endParaRPr>
          </a:p>
        </p:txBody>
      </p:sp>
      <p:pic>
        <p:nvPicPr>
          <p:cNvPr id="21" name="Picture 20" descr="A screenshot of a survey&#10;&#10;AI-generated content may be incorrect.">
            <a:extLst>
              <a:ext uri="{FF2B5EF4-FFF2-40B4-BE49-F238E27FC236}">
                <a16:creationId xmlns:a16="http://schemas.microsoft.com/office/drawing/2014/main" id="{CDCAE5A6-27F6-E75B-D4E5-0D656123B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144588"/>
            <a:ext cx="1390650" cy="1130587"/>
          </a:xfrm>
          <a:prstGeom prst="rect">
            <a:avLst/>
          </a:prstGeom>
        </p:spPr>
      </p:pic>
      <p:pic>
        <p:nvPicPr>
          <p:cNvPr id="23" name="Picture 22" descr="A screenshot of a survey&#10;&#10;AI-generated content may be incorrect.">
            <a:extLst>
              <a:ext uri="{FF2B5EF4-FFF2-40B4-BE49-F238E27FC236}">
                <a16:creationId xmlns:a16="http://schemas.microsoft.com/office/drawing/2014/main" id="{BEADBD59-2E6C-7E49-8D8D-1742E1B14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88" y="1143155"/>
            <a:ext cx="1390651" cy="1138393"/>
          </a:xfrm>
          <a:prstGeom prst="rect">
            <a:avLst/>
          </a:prstGeom>
        </p:spPr>
      </p:pic>
      <p:pic>
        <p:nvPicPr>
          <p:cNvPr id="25" name="Picture 24" descr="A screenshot of a survey&#10;&#10;AI-generated content may be incorrect.">
            <a:extLst>
              <a:ext uri="{FF2B5EF4-FFF2-40B4-BE49-F238E27FC236}">
                <a16:creationId xmlns:a16="http://schemas.microsoft.com/office/drawing/2014/main" id="{35C4E0D4-72B8-B79A-AC92-56FF06B0B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301" y="1185875"/>
            <a:ext cx="1292958" cy="1130587"/>
          </a:xfrm>
          <a:prstGeom prst="rect">
            <a:avLst/>
          </a:prstGeom>
        </p:spPr>
      </p:pic>
      <p:pic>
        <p:nvPicPr>
          <p:cNvPr id="27" name="Picture 26" descr="Screens screenshot of a survey&#10;&#10;AI-generated content may be incorrect.">
            <a:extLst>
              <a:ext uri="{FF2B5EF4-FFF2-40B4-BE49-F238E27FC236}">
                <a16:creationId xmlns:a16="http://schemas.microsoft.com/office/drawing/2014/main" id="{6C0F78D2-6CB7-B726-3616-AE408DB36F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721" y="1144587"/>
            <a:ext cx="1208079" cy="1130587"/>
          </a:xfrm>
          <a:prstGeom prst="rect">
            <a:avLst/>
          </a:prstGeom>
        </p:spPr>
      </p:pic>
      <p:pic>
        <p:nvPicPr>
          <p:cNvPr id="29" name="Picture 28" descr="A screenshot of a survey&#10;&#10;AI-generated content may be incorrect.">
            <a:extLst>
              <a:ext uri="{FF2B5EF4-FFF2-40B4-BE49-F238E27FC236}">
                <a16:creationId xmlns:a16="http://schemas.microsoft.com/office/drawing/2014/main" id="{3AA2E892-86A6-EF83-5BF4-509EE6F891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706365"/>
            <a:ext cx="1390650" cy="1130587"/>
          </a:xfrm>
          <a:prstGeom prst="rect">
            <a:avLst/>
          </a:prstGeom>
        </p:spPr>
      </p:pic>
      <p:pic>
        <p:nvPicPr>
          <p:cNvPr id="31" name="Picture 30" descr="A screenshot of a survey&#10;&#10;AI-generated content may be incorrect.">
            <a:extLst>
              <a:ext uri="{FF2B5EF4-FFF2-40B4-BE49-F238E27FC236}">
                <a16:creationId xmlns:a16="http://schemas.microsoft.com/office/drawing/2014/main" id="{1AC5EE64-419F-AFCE-0DAC-13F68E3E2D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88" y="2706365"/>
            <a:ext cx="1390650" cy="1130587"/>
          </a:xfrm>
          <a:prstGeom prst="rect">
            <a:avLst/>
          </a:prstGeom>
        </p:spPr>
      </p:pic>
      <p:pic>
        <p:nvPicPr>
          <p:cNvPr id="33" name="Picture 32" descr="A screenshot of a survey&#10;&#10;AI-generated content may be incorrect.">
            <a:extLst>
              <a:ext uri="{FF2B5EF4-FFF2-40B4-BE49-F238E27FC236}">
                <a16:creationId xmlns:a16="http://schemas.microsoft.com/office/drawing/2014/main" id="{3E02F12F-551C-39CB-2414-F86E2A270B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301" y="2706365"/>
            <a:ext cx="1292958" cy="1130587"/>
          </a:xfrm>
          <a:prstGeom prst="rect">
            <a:avLst/>
          </a:prstGeom>
        </p:spPr>
      </p:pic>
      <p:pic>
        <p:nvPicPr>
          <p:cNvPr id="37" name="Picture 36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B1B7652A-0747-93B2-1C38-D7162975D0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720" y="2706365"/>
            <a:ext cx="1208079" cy="1130587"/>
          </a:xfrm>
          <a:prstGeom prst="rect">
            <a:avLst/>
          </a:prstGeom>
        </p:spPr>
      </p:pic>
      <p:pic>
        <p:nvPicPr>
          <p:cNvPr id="39" name="Picture 38" descr="Screens screenshot of a survey&#10;&#10;AI-generated content may be incorrect.">
            <a:extLst>
              <a:ext uri="{FF2B5EF4-FFF2-40B4-BE49-F238E27FC236}">
                <a16:creationId xmlns:a16="http://schemas.microsoft.com/office/drawing/2014/main" id="{66EA04F9-AECC-CA8A-803C-1CBCC61AED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68143"/>
            <a:ext cx="1390650" cy="2060642"/>
          </a:xfrm>
          <a:prstGeom prst="rect">
            <a:avLst/>
          </a:prstGeom>
        </p:spPr>
      </p:pic>
      <p:pic>
        <p:nvPicPr>
          <p:cNvPr id="41" name="Picture 40" descr="Screens screenshot of a survey&#10;&#10;AI-generated content may be incorrect.">
            <a:extLst>
              <a:ext uri="{FF2B5EF4-FFF2-40B4-BE49-F238E27FC236}">
                <a16:creationId xmlns:a16="http://schemas.microsoft.com/office/drawing/2014/main" id="{C6F8849A-299F-59F4-A73A-B775DCC02A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188" y="4268143"/>
            <a:ext cx="1390650" cy="2060642"/>
          </a:xfrm>
          <a:prstGeom prst="rect">
            <a:avLst/>
          </a:prstGeom>
        </p:spPr>
      </p:pic>
      <p:pic>
        <p:nvPicPr>
          <p:cNvPr id="43" name="Picture 42" descr="Screens screenshot of a survey&#10;&#10;AI-generated content may be incorrect.">
            <a:extLst>
              <a:ext uri="{FF2B5EF4-FFF2-40B4-BE49-F238E27FC236}">
                <a16:creationId xmlns:a16="http://schemas.microsoft.com/office/drawing/2014/main" id="{BCD2F2A8-ED0D-BE6B-D8F7-B4830310E7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875" y="4268143"/>
            <a:ext cx="1341384" cy="2060642"/>
          </a:xfrm>
          <a:prstGeom prst="rect">
            <a:avLst/>
          </a:prstGeom>
        </p:spPr>
      </p:pic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2E7F70-C177-8AB8-12D8-F2406528386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295" y="4268143"/>
            <a:ext cx="1256503" cy="206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23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artoon of a hallway&#10;&#10;AI-generated content may be incorrect.">
            <a:extLst>
              <a:ext uri="{FF2B5EF4-FFF2-40B4-BE49-F238E27FC236}">
                <a16:creationId xmlns:a16="http://schemas.microsoft.com/office/drawing/2014/main" id="{7EBD1CD5-20B0-7F98-4A0B-5076412F6D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ED2CC5-C21C-C1B0-6E67-2B0A7851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843"/>
            <a:ext cx="10515600" cy="904745"/>
          </a:xfrm>
        </p:spPr>
        <p:txBody>
          <a:bodyPr>
            <a:normAutofit/>
          </a:bodyPr>
          <a:lstStyle/>
          <a:p>
            <a:r>
              <a:rPr lang="en-ZA" sz="4800" b="1" dirty="0">
                <a:solidFill>
                  <a:srgbClr val="FFFFFF"/>
                </a:solidFill>
                <a:latin typeface="Arial Nova" panose="020B0504020202020204" pitchFamily="34" charset="0"/>
              </a:rPr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05BA8A8-8231-E43E-D29C-D5880242C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421"/>
            <a:ext cx="10515600" cy="479254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Across all sampling strategies, the estimates are broadly similar, but the </a:t>
            </a:r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precision (narrower confidence intervals)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varies:</a:t>
            </a:r>
          </a:p>
          <a:p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Stratified sampling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produced the most stable and precise estimates, as dividing by sex reduced variability.</a:t>
            </a:r>
          </a:p>
          <a:p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SRS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gave reasonable results but slightly wider confidence intervals.</a:t>
            </a:r>
          </a:p>
          <a:p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SRS WR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added more variability since replacement can over-represent some units.</a:t>
            </a:r>
          </a:p>
          <a:p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Cluster sampling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was the least precise because income and hours can vary widely across clusters (countries).</a:t>
            </a:r>
          </a:p>
          <a:p>
            <a:r>
              <a:rPr lang="en-US" b="1" dirty="0">
                <a:solidFill>
                  <a:srgbClr val="FFFFFF"/>
                </a:solidFill>
                <a:latin typeface="Arial Nova" panose="020B0504020202020204" pitchFamily="34" charset="0"/>
              </a:rPr>
              <a:t>Final finding:</a:t>
            </a:r>
            <a:r>
              <a:rPr lang="en-US" dirty="0">
                <a:solidFill>
                  <a:srgbClr val="FFFFFF"/>
                </a:solidFill>
                <a:latin typeface="Arial Nova" panose="020B0504020202020204" pitchFamily="34" charset="0"/>
              </a:rPr>
              <a:t> Stratified sampling gave the most reliable estimates in this study, showing the value of accounting for known population structure (here, sex) when sampling.</a:t>
            </a:r>
          </a:p>
          <a:p>
            <a:endParaRPr lang="en-US" sz="2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513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543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Nova</vt:lpstr>
      <vt:lpstr>Calibri</vt:lpstr>
      <vt:lpstr>Office Theme</vt:lpstr>
      <vt:lpstr>Sampling Your Way to Accurate Estimates </vt:lpstr>
      <vt:lpstr>Aim of Study</vt:lpstr>
      <vt:lpstr>Data and Variables of Interest</vt:lpstr>
      <vt:lpstr>Sampling Types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Alunge Hlubi (223019985)</dc:creator>
  <cp:lastModifiedBy>Alunge Hlubi (223019985)</cp:lastModifiedBy>
  <cp:revision>10</cp:revision>
  <dcterms:created xsi:type="dcterms:W3CDTF">2025-10-09T00:43:51Z</dcterms:created>
  <dcterms:modified xsi:type="dcterms:W3CDTF">2025-10-23T13:02:39Z</dcterms:modified>
</cp:coreProperties>
</file>